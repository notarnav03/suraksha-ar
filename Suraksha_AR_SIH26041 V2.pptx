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A4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E2A47"/>
                </a:solidFill>
                <a:latin typeface="Calibri"/>
              </a:rPr>
              <a:t>Recall after training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Classroom training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A4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Day 0</c:v>
                  </c:pt>
                  <c:pt idx="1">
                    <c:v>Day 1</c:v>
                  </c:pt>
                  <c:pt idx="2">
                    <c:v>Day 7</c:v>
                  </c:pt>
                  <c:pt idx="3">
                    <c:v>Day 30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55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 + micro-drill (projected)</c:v>
                </c:pt>
              </c:strCache>
            </c:strRef>
          </c:tx>
          <c:spPr>
            <a:solidFill>
              <a:srgbClr val="2E8B54"/>
            </a:solidFill>
            <a:ln w="38100" cap="flat">
              <a:solidFill>
                <a:srgbClr val="2E8B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2A4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8B54"/>
              </a:solidFill>
              <a:ln w="9525" cap="flat">
                <a:solidFill>
                  <a:srgbClr val="2E8B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Day 0</c:v>
                  </c:pt>
                  <c:pt idx="1">
                    <c:v>Day 1</c:v>
                  </c:pt>
                  <c:pt idx="2">
                    <c:v>Day 7</c:v>
                  </c:pt>
                  <c:pt idx="3">
                    <c:v>Day 30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88</c:v>
                </c:pt>
                <c:pt idx="2">
                  <c:v>80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2A47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8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498080" y="1554480"/>
            <a:ext cx="4206240" cy="4206240"/>
          </a:xfrm>
          <a:prstGeom prst="hexagon">
            <a:avLst/>
          </a:prstGeom>
          <a:solidFill>
            <a:srgbClr val="F1F4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4" name="Image 0" descr="/home/claude/work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417320" cy="6688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7043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E2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Suraksha AR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938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i="1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safety training that issues a verifiable competency certificate</a:t>
            </a:r>
            <a:endParaRPr lang="en-US" sz="1650" dirty="0"/>
          </a:p>
        </p:txBody>
      </p:sp>
      <p:pic>
        <p:nvPicPr>
          <p:cNvPr id="7" name="Image 1" descr="/home/claude/work/assets/brain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2331720"/>
            <a:ext cx="2514600" cy="29503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697480"/>
            <a:ext cx="7772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26041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AR-Based Vocational Training Simulator for Industrial Safety in Jharkhand's Mining &amp; Manufacturing Sector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50988E</a:t>
            </a:r>
            <a:endParaRPr lang="en-US" sz="1450" dirty="0"/>
          </a:p>
          <a:p>
            <a:pPr algn="l"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pPr algn="l" indent="0" marL="0">
              <a:lnSpc>
                <a:spcPct val="102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L.A.R.P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60120" cy="420624"/>
          </a:xfrm>
          <a:prstGeom prst="ellipse">
            <a:avLst/>
          </a:prstGeom>
          <a:ln w="15875">
            <a:solidFill>
              <a:srgbClr val="0E2A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 &amp; SOLUTION</a:t>
            </a:r>
            <a:endParaRPr lang="en-US" sz="3000" dirty="0"/>
          </a:p>
        </p:txBody>
      </p:sp>
      <p:pic>
        <p:nvPicPr>
          <p:cNvPr id="5" name="Image 0" descr="/home/claude/work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19456"/>
            <a:ext cx="1298448" cy="6127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144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phone, a hazard drill in the worker's own worksite, scored into a certificate that proves they understood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" y="1467612"/>
            <a:ext cx="137160" cy="1371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6656" y="1389888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72821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safety training is forgotten fast: under 20% recall within a week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certificates prove attendance, not that a worker can actually act</a:t>
            </a:r>
            <a:endParaRPr lang="en-US" sz="1250" dirty="0"/>
          </a:p>
          <a:p>
            <a:pPr algn="l"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recruits are new to industry, low-literacy, and speak tribal languages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" y="3342132"/>
            <a:ext cx="137160" cy="137160"/>
          </a:xfrm>
          <a:prstGeom prst="ellipse">
            <a:avLst/>
          </a:prstGeom>
          <a:solidFill>
            <a:srgbClr val="155F7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6656" y="3264408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FIX: ONE MECHANISM PER GAP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507492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370332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collapse:  </a:t>
            </a:r>
            <a:pPr algn="l"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90-second AR micro-drills in the daily toolbox talk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457200" y="4416552"/>
            <a:ext cx="507492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4416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paper:  </a:t>
            </a:r>
            <a:pPr algn="l"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cryptographically signed, offline-verifiable credential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457200" y="5129784"/>
            <a:ext cx="507492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512978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8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barrier:  </a:t>
            </a:r>
            <a:pPr algn="l" indent="0" marL="0">
              <a:lnSpc>
                <a:spcPct val="98000"/>
              </a:lnSpc>
              <a:buNone/>
            </a:pPr>
            <a:r>
              <a:rPr lang="en-US" sz="118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voice-first, zero-text delivery in Hindi and tribal languages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5984748" y="1467612"/>
            <a:ext cx="137160" cy="137160"/>
          </a:xfrm>
          <a:prstGeom prst="ellipse">
            <a:avLst/>
          </a:prstGeom>
          <a:solidFill>
            <a:srgbClr val="155F7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208776" y="1389888"/>
            <a:ext cx="5266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CERTIFICATION LOOP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89320" y="1801368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0E2A4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89320" y="1801368"/>
            <a:ext cx="4297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briefing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 rot="10800000">
            <a:off x="8037576" y="2318004"/>
            <a:ext cx="201168" cy="155448"/>
          </a:xfrm>
          <a:prstGeom prst="triangle">
            <a:avLst/>
          </a:prstGeom>
          <a:solidFill>
            <a:srgbClr val="1C7A9E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2487168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155F7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989320" y="2487168"/>
            <a:ext cx="4297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hazard drill in their own worksite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 rot="10800000">
            <a:off x="8037576" y="3003804"/>
            <a:ext cx="201168" cy="155448"/>
          </a:xfrm>
          <a:prstGeom prst="triangle">
            <a:avLst/>
          </a:prstGeom>
          <a:solidFill>
            <a:srgbClr val="1C7A9E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3172968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1C7A9E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89320" y="3172968"/>
            <a:ext cx="4297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vector scored (what they DID)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 rot="10800000">
            <a:off x="8037576" y="3689604"/>
            <a:ext cx="201168" cy="155448"/>
          </a:xfrm>
          <a:prstGeom prst="triangle">
            <a:avLst/>
          </a:prstGeom>
          <a:solidFill>
            <a:srgbClr val="1C7A9E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3858768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2E8B5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989320" y="3858768"/>
            <a:ext cx="4297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credential issued  (the payoff)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 rot="10800000">
            <a:off x="8037576" y="4375404"/>
            <a:ext cx="201168" cy="155448"/>
          </a:xfrm>
          <a:prstGeom prst="triangle">
            <a:avLst/>
          </a:prstGeom>
          <a:solidFill>
            <a:srgbClr val="1C7A9E"/>
          </a:solidFill>
          <a:ln/>
        </p:spPr>
      </p:sp>
      <p:sp>
        <p:nvSpPr>
          <p:cNvPr id="32" name="Shape 29"/>
          <p:cNvSpPr/>
          <p:nvPr/>
        </p:nvSpPr>
        <p:spPr>
          <a:xfrm>
            <a:off x="5989320" y="4544568"/>
            <a:ext cx="4297680" cy="502920"/>
          </a:xfrm>
          <a:prstGeom prst="roundRect">
            <a:avLst>
              <a:gd name="adj" fmla="val 14545"/>
            </a:avLst>
          </a:prstGeom>
          <a:solidFill>
            <a:srgbClr val="16355C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5989320" y="4544568"/>
            <a:ext cx="4297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90-second micro-drill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10287000" y="4796028"/>
            <a:ext cx="384048" cy="0"/>
          </a:xfrm>
          <a:prstGeom prst="line">
            <a:avLst/>
          </a:prstGeom>
          <a:noFill/>
          <a:ln w="22225">
            <a:solidFill>
              <a:srgbClr val="2E8B5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671048" y="2738628"/>
            <a:ext cx="0" cy="2057400"/>
          </a:xfrm>
          <a:prstGeom prst="line">
            <a:avLst/>
          </a:prstGeom>
          <a:noFill/>
          <a:ln w="22225">
            <a:solidFill>
              <a:srgbClr val="2E8B5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287000" y="2738628"/>
            <a:ext cx="384048" cy="0"/>
          </a:xfrm>
          <a:prstGeom prst="line">
            <a:avLst/>
          </a:prstGeom>
          <a:noFill/>
          <a:ln w="22225">
            <a:solidFill>
              <a:srgbClr val="2E8B54"/>
            </a:solidFill>
            <a:prstDash val="solid"/>
            <a:headEnd type="triangle"/>
          </a:ln>
        </p:spPr>
      </p:sp>
      <p:sp>
        <p:nvSpPr>
          <p:cNvPr id="37" name="Text 34"/>
          <p:cNvSpPr txBox="1"/>
          <p:nvPr/>
        </p:nvSpPr>
        <p:spPr>
          <a:xfrm>
            <a:off x="10725912" y="35844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i="1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989320" y="5175504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FBEDEB"/>
          </a:solidFill>
          <a:ln w="12700">
            <a:solidFill>
              <a:srgbClr val="E7BFB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153912" y="51755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alert:  </a:t>
            </a:r>
            <a:pPr algn="l"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retention automatically triggers a re-drill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989320"/>
            <a:ext cx="11274552" cy="640080"/>
          </a:xfrm>
          <a:prstGeom prst="roundRect">
            <a:avLst>
              <a:gd name="adj" fmla="val 8571"/>
            </a:avLst>
          </a:prstGeom>
          <a:solidFill>
            <a:srgbClr val="0E2A47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digitising the training. We are digitising the part that does not exist yet: </a:t>
            </a:r>
            <a:pPr algn="ctr" indent="0" marL="0">
              <a:buNone/>
            </a:pPr>
            <a:r>
              <a:rPr lang="en-US" sz="14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that the worker understood.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60120" cy="420624"/>
          </a:xfrm>
          <a:prstGeom prst="ellipse">
            <a:avLst/>
          </a:prstGeom>
          <a:ln w="15875">
            <a:solidFill>
              <a:srgbClr val="0E2A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3000" dirty="0"/>
          </a:p>
        </p:txBody>
      </p:sp>
      <p:pic>
        <p:nvPicPr>
          <p:cNvPr id="5" name="Image 0" descr="/home/claude/work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19456"/>
            <a:ext cx="1298448" cy="6127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144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authored scenario, three renderers, one identical certificate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" y="1467612"/>
            <a:ext cx="137160" cy="137160"/>
          </a:xfrm>
          <a:prstGeom prst="ellipse">
            <a:avLst/>
          </a:prstGeom>
          <a:solidFill>
            <a:srgbClr val="155F7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6656" y="138988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EXCLUDED BY THEIR PHONE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43000" y="1801368"/>
            <a:ext cx="3840480" cy="512064"/>
          </a:xfrm>
          <a:prstGeom prst="roundRect">
            <a:avLst>
              <a:gd name="adj" fmla="val 12500"/>
            </a:avLst>
          </a:prstGeom>
          <a:solidFill>
            <a:srgbClr val="0E2A4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1801368"/>
            <a:ext cx="384048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graph  (JSON: states, hazards, timers)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 rot="10800000">
            <a:off x="2962656" y="2345436"/>
            <a:ext cx="201168" cy="155448"/>
          </a:xfrm>
          <a:prstGeom prst="triangle">
            <a:avLst/>
          </a:prstGeom>
          <a:solidFill>
            <a:srgbClr val="1C7A9E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2606040"/>
            <a:ext cx="1627632" cy="841248"/>
          </a:xfrm>
          <a:prstGeom prst="roundRect">
            <a:avLst>
              <a:gd name="adj" fmla="val 7609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606040"/>
            <a:ext cx="162763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
</a:t>
            </a:r>
            <a:pPr algn="ctr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Markerless 6DoF AR
</a:t>
            </a:r>
            <a:pPr algn="ctr" indent="0" marL="0">
              <a:lnSpc>
                <a:spcPct val="100000"/>
              </a:lnSpc>
              <a:buNone/>
            </a:pPr>
            <a:r>
              <a:rPr lang="en-US" sz="93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ARCore phones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249424" y="2606040"/>
            <a:ext cx="1627632" cy="841248"/>
          </a:xfrm>
          <a:prstGeom prst="roundRect">
            <a:avLst>
              <a:gd name="adj" fmla="val 7609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49424" y="2606040"/>
            <a:ext cx="162763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
</a:t>
            </a:r>
            <a:pPr algn="ctr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Marker-based AR
</a:t>
            </a:r>
            <a:pPr algn="ctr" indent="0" marL="0">
              <a:lnSpc>
                <a:spcPct val="100000"/>
              </a:lnSpc>
              <a:buNone/>
            </a:pPr>
            <a:r>
              <a:rPr lang="en-US" sz="93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hazard card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41648" y="2606040"/>
            <a:ext cx="1627632" cy="841248"/>
          </a:xfrm>
          <a:prstGeom prst="roundRect">
            <a:avLst>
              <a:gd name="adj" fmla="val 7609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41648" y="2606040"/>
            <a:ext cx="1627632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
</a:t>
            </a:r>
            <a:pPr algn="ctr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2D mode
</a:t>
            </a:r>
            <a:pPr algn="ctr" indent="0" marL="0">
              <a:lnSpc>
                <a:spcPct val="100000"/>
              </a:lnSpc>
              <a:buNone/>
            </a:pPr>
            <a:r>
              <a:rPr lang="en-US" sz="93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Android 10+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 rot="10800000">
            <a:off x="2962656" y="3479292"/>
            <a:ext cx="201168" cy="155448"/>
          </a:xfrm>
          <a:prstGeom prst="triangle">
            <a:avLst/>
          </a:prstGeom>
          <a:solidFill>
            <a:srgbClr val="1C7A9E"/>
          </a:solidFill>
          <a:ln/>
        </p:spPr>
      </p:sp>
      <p:sp>
        <p:nvSpPr>
          <p:cNvPr id="19" name="Shape 16"/>
          <p:cNvSpPr/>
          <p:nvPr/>
        </p:nvSpPr>
        <p:spPr>
          <a:xfrm>
            <a:off x="1143000" y="3739896"/>
            <a:ext cx="3840480" cy="493776"/>
          </a:xfrm>
          <a:prstGeom prst="roundRect">
            <a:avLst>
              <a:gd name="adj" fmla="val 12963"/>
            </a:avLst>
          </a:prstGeom>
          <a:solidFill>
            <a:srgbClr val="1C7A9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43000" y="3739896"/>
            <a:ext cx="3840480" cy="4937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engine  (sequence, latency, recovery)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2962656" y="4265676"/>
            <a:ext cx="201168" cy="155448"/>
          </a:xfrm>
          <a:prstGeom prst="triangle">
            <a:avLst/>
          </a:prstGeom>
          <a:solidFill>
            <a:srgbClr val="2E8B54"/>
          </a:solidFill>
          <a:ln/>
        </p:spPr>
      </p:sp>
      <p:sp>
        <p:nvSpPr>
          <p:cNvPr id="22" name="Shape 19"/>
          <p:cNvSpPr/>
          <p:nvPr/>
        </p:nvSpPr>
        <p:spPr>
          <a:xfrm>
            <a:off x="1645920" y="4526280"/>
            <a:ext cx="2834640" cy="457200"/>
          </a:xfrm>
          <a:prstGeom prst="roundRect">
            <a:avLst>
              <a:gd name="adj" fmla="val 14000"/>
            </a:avLst>
          </a:prstGeom>
          <a:solidFill>
            <a:srgbClr val="2E8B5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645920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certificate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1114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assessment and the same certificate on every tier.</a:t>
            </a:r>
            <a:endParaRPr lang="en-US" sz="1030" dirty="0"/>
          </a:p>
        </p:txBody>
      </p:sp>
      <p:sp>
        <p:nvSpPr>
          <p:cNvPr id="25" name="Shape 22"/>
          <p:cNvSpPr/>
          <p:nvPr/>
        </p:nvSpPr>
        <p:spPr>
          <a:xfrm>
            <a:off x="457200" y="555040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555040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 drills built for this submission; five safety domains on the roadmap.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67628" y="1467612"/>
            <a:ext cx="137160" cy="137160"/>
          </a:xfrm>
          <a:prstGeom prst="ellipse">
            <a:avLst/>
          </a:prstGeom>
          <a:solidFill>
            <a:srgbClr val="155F7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91656" y="1389888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A COMPETENCY VECTOR, NOT ONE NUMBER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172200" y="1709928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first: the confined-space rescue drill, where a rushed rescue kills the second worker.</a:t>
            </a:r>
            <a:endParaRPr lang="en-US" sz="1030" dirty="0"/>
          </a:p>
        </p:txBody>
      </p:sp>
      <p:sp>
        <p:nvSpPr>
          <p:cNvPr id="30" name="Text 27"/>
          <p:cNvSpPr txBox="1"/>
          <p:nvPr/>
        </p:nvSpPr>
        <p:spPr>
          <a:xfrm>
            <a:off x="6172200" y="2350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recognition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046720" y="238658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EDF0F4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46720" y="238658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1C7A9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0725912" y="23500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172200" y="2715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sequence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8046720" y="275234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EDF0F4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46720" y="275234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1C7A9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0725912" y="27157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172200" y="3081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discipline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046720" y="311810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EDF0F4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46720" y="311810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1C7A9E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10725912" y="30815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6172200" y="3447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action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46720" y="348386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EDF0F4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046720" y="348386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1C7A9E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10725912" y="34472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6172200" y="3813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recovery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8046720" y="384962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EDF0F4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046720" y="384962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1C7A9E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10725912" y="3813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172200" y="4178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restraint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046720" y="4215384"/>
            <a:ext cx="2606040" cy="219456"/>
          </a:xfrm>
          <a:prstGeom prst="roundRect">
            <a:avLst>
              <a:gd name="adj" fmla="val 16667"/>
            </a:avLst>
          </a:prstGeom>
          <a:solidFill>
            <a:srgbClr val="EDF0F4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725912" y="417880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72200" y="4599432"/>
            <a:ext cx="2642616" cy="749808"/>
          </a:xfrm>
          <a:prstGeom prst="roundRect">
            <a:avLst>
              <a:gd name="adj" fmla="val 7317"/>
            </a:avLst>
          </a:prstGeom>
          <a:solidFill>
            <a:srgbClr val="FBEDEB"/>
          </a:solidFill>
          <a:ln w="15875">
            <a:solidFill>
              <a:srgbClr val="E7BFB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318504" y="4599432"/>
            <a:ext cx="2368296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averaged score: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= PASS
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hides the fatal gap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9089136" y="4599432"/>
            <a:ext cx="2642616" cy="749808"/>
          </a:xfrm>
          <a:prstGeom prst="roundRect">
            <a:avLst>
              <a:gd name="adj" fmla="val 7317"/>
            </a:avLst>
          </a:prstGeom>
          <a:solidFill>
            <a:srgbClr val="E9F5EC"/>
          </a:solidFill>
          <a:ln w="15875">
            <a:solidFill>
              <a:srgbClr val="BFE0C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235440" y="4599432"/>
            <a:ext cx="2368296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vector: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
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restraint is zero-tolerance</a:t>
            </a:r>
            <a:endParaRPr lang="en-US" sz="1050" dirty="0"/>
          </a:p>
        </p:txBody>
      </p:sp>
      <p:sp>
        <p:nvSpPr>
          <p:cNvPr id="57" name="Text 54"/>
          <p:cNvSpPr txBox="1"/>
          <p:nvPr/>
        </p:nvSpPr>
        <p:spPr>
          <a:xfrm>
            <a:off x="6172200" y="5422392"/>
            <a:ext cx="5559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on five dimensions, zero on the one that kills. A single number passes him; the competency vector does not.</a:t>
            </a:r>
            <a:endParaRPr lang="en-US" sz="1030" dirty="0"/>
          </a:p>
        </p:txBody>
      </p:sp>
      <p:sp>
        <p:nvSpPr>
          <p:cNvPr id="58" name="Shape 55"/>
          <p:cNvSpPr/>
          <p:nvPr/>
        </p:nvSpPr>
        <p:spPr>
          <a:xfrm>
            <a:off x="457200" y="6108192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8368" y="6108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1600200" y="6236208"/>
            <a:ext cx="1492301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600200" y="6236208"/>
            <a:ext cx="1492301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+ three.js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3238805" y="6236208"/>
            <a:ext cx="1730959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3238805" y="6236208"/>
            <a:ext cx="1730959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scenario graph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116068" y="6236208"/>
            <a:ext cx="2287829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116068" y="6236208"/>
            <a:ext cx="2287829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ECDSA-signed QR credential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550201" y="6236208"/>
            <a:ext cx="1253642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550201" y="6236208"/>
            <a:ext cx="1253642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8950147" y="6236208"/>
            <a:ext cx="1571854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8950147" y="6236208"/>
            <a:ext cx="1571854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Direct sync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10668305" y="6236208"/>
            <a:ext cx="1890065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668305" y="6236208"/>
            <a:ext cx="1890065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Santali voice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60120" cy="420624"/>
          </a:xfrm>
          <a:prstGeom prst="ellipse">
            <a:avLst/>
          </a:prstGeom>
          <a:ln w="15875">
            <a:solidFill>
              <a:srgbClr val="0E2A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3000" dirty="0"/>
          </a:p>
        </p:txBody>
      </p:sp>
      <p:pic>
        <p:nvPicPr>
          <p:cNvPr id="5" name="Image 0" descr="/home/claude/work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19456"/>
            <a:ext cx="1298448" cy="6127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144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phones workers already own and digitises training the law already requires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155F7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1417320"/>
            <a:ext cx="3602736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EXISTS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3602736" cy="146304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2020824"/>
            <a:ext cx="3236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Android 10+ phone a worker already carries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headset, no new device to issue or maintain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capital cost for the mine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3108" y="141732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93108" y="1417320"/>
            <a:ext cx="3602736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EXISTS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293108" y="1874520"/>
            <a:ext cx="3602736" cy="146304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94276" y="2020824"/>
            <a:ext cx="3236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Vocational Training Rules, 1966 already mandate a training centre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plus refresher training already required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already kept for inspection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29016" y="1417320"/>
            <a:ext cx="3602736" cy="457200"/>
          </a:xfrm>
          <a:prstGeom prst="roundRect">
            <a:avLst>
              <a:gd name="adj" fmla="val 12000"/>
            </a:avLst>
          </a:prstGeom>
          <a:solidFill>
            <a:srgbClr val="2372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29016" y="1417320"/>
            <a:ext cx="3602736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EXISTS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129016" y="1874520"/>
            <a:ext cx="3602736" cy="1463040"/>
          </a:xfrm>
          <a:prstGeom prst="roundRect">
            <a:avLst>
              <a:gd name="adj" fmla="val 2500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0184" y="2020824"/>
            <a:ext cx="3236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and three.js are mature and open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ECDSA signing, W3C credentials</a:t>
            </a:r>
            <a:endParaRPr lang="en-US" sz="110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licensing risk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502152"/>
            <a:ext cx="11274552" cy="603504"/>
          </a:xfrm>
          <a:prstGeom prst="roundRect">
            <a:avLst>
              <a:gd name="adj" fmla="val 9091"/>
            </a:avLst>
          </a:prstGeom>
          <a:solidFill>
            <a:srgbClr val="0E2A4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3502152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hardware, no new process, no new science.  </a:t>
            </a:r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digitise a compliance obligation that today produces only paper.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52628" y="4320540"/>
            <a:ext cx="137160" cy="137160"/>
          </a:xfrm>
          <a:prstGeom prst="ellipse">
            <a:avLst/>
          </a:prstGeom>
          <a:solidFill>
            <a:srgbClr val="155F7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76656" y="4242816"/>
            <a:ext cx="7095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-&gt;  OUR APPROACH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4636008"/>
            <a:ext cx="4709160" cy="420624"/>
          </a:xfrm>
          <a:prstGeom prst="roundRect">
            <a:avLst>
              <a:gd name="adj" fmla="val 13043"/>
            </a:avLst>
          </a:prstGeom>
          <a:solidFill>
            <a:srgbClr val="FBEDEB"/>
          </a:solidFill>
          <a:ln w="12700">
            <a:solidFill>
              <a:srgbClr val="E7BFB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4636008"/>
            <a:ext cx="4709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8E2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phones lack ARCore</a:t>
            </a:r>
            <a:endParaRPr lang="en-US" sz="1130" dirty="0"/>
          </a:p>
        </p:txBody>
      </p:sp>
      <p:sp>
        <p:nvSpPr>
          <p:cNvPr id="25" name="Shape 22"/>
          <p:cNvSpPr/>
          <p:nvPr/>
        </p:nvSpPr>
        <p:spPr>
          <a:xfrm rot="5400000">
            <a:off x="5294376" y="4768596"/>
            <a:ext cx="201168" cy="155448"/>
          </a:xfrm>
          <a:prstGeom prst="triangle">
            <a:avLst/>
          </a:prstGeom>
          <a:solidFill>
            <a:srgbClr val="2E8B54"/>
          </a:solidFill>
          <a:ln/>
        </p:spPr>
      </p:sp>
      <p:sp>
        <p:nvSpPr>
          <p:cNvPr id="26" name="Shape 23"/>
          <p:cNvSpPr/>
          <p:nvPr/>
        </p:nvSpPr>
        <p:spPr>
          <a:xfrm>
            <a:off x="5623560" y="4636008"/>
            <a:ext cx="5989320" cy="420624"/>
          </a:xfrm>
          <a:prstGeom prst="roundRect">
            <a:avLst>
              <a:gd name="adj" fmla="val 13043"/>
            </a:avLst>
          </a:prstGeom>
          <a:solidFill>
            <a:srgbClr val="E9F5EC"/>
          </a:solidFill>
          <a:ln w="12700">
            <a:solidFill>
              <a:srgbClr val="BFE0C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23560" y="4636008"/>
            <a:ext cx="5989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rendering: the same certificate on any tier</a:t>
            </a:r>
            <a:endParaRPr lang="en-US" sz="1130" dirty="0"/>
          </a:p>
        </p:txBody>
      </p:sp>
      <p:sp>
        <p:nvSpPr>
          <p:cNvPr id="28" name="Shape 25"/>
          <p:cNvSpPr/>
          <p:nvPr/>
        </p:nvSpPr>
        <p:spPr>
          <a:xfrm>
            <a:off x="457200" y="5148072"/>
            <a:ext cx="4709160" cy="420624"/>
          </a:xfrm>
          <a:prstGeom prst="roundRect">
            <a:avLst>
              <a:gd name="adj" fmla="val 13043"/>
            </a:avLst>
          </a:prstGeom>
          <a:solidFill>
            <a:srgbClr val="FBEDEB"/>
          </a:solidFill>
          <a:ln w="12700">
            <a:solidFill>
              <a:srgbClr val="E7BFB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5148072"/>
            <a:ext cx="4709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8E2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at the worksite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 rot="5400000">
            <a:off x="5294376" y="5280660"/>
            <a:ext cx="201168" cy="155448"/>
          </a:xfrm>
          <a:prstGeom prst="triangle">
            <a:avLst/>
          </a:prstGeom>
          <a:solidFill>
            <a:srgbClr val="2E8B54"/>
          </a:solidFill>
          <a:ln/>
        </p:spPr>
      </p:sp>
      <p:sp>
        <p:nvSpPr>
          <p:cNvPr id="31" name="Shape 28"/>
          <p:cNvSpPr/>
          <p:nvPr/>
        </p:nvSpPr>
        <p:spPr>
          <a:xfrm>
            <a:off x="5623560" y="5148072"/>
            <a:ext cx="5989320" cy="420624"/>
          </a:xfrm>
          <a:prstGeom prst="roundRect">
            <a:avLst>
              <a:gd name="adj" fmla="val 13043"/>
            </a:avLst>
          </a:prstGeom>
          <a:solidFill>
            <a:srgbClr val="E9F5EC"/>
          </a:solidFill>
          <a:ln w="12700">
            <a:solidFill>
              <a:srgbClr val="BFE0C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23560" y="5148072"/>
            <a:ext cx="5989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content pack: works with zero network</a:t>
            </a:r>
            <a:endParaRPr lang="en-US" sz="1130" dirty="0"/>
          </a:p>
        </p:txBody>
      </p:sp>
      <p:sp>
        <p:nvSpPr>
          <p:cNvPr id="33" name="Shape 30"/>
          <p:cNvSpPr/>
          <p:nvPr/>
        </p:nvSpPr>
        <p:spPr>
          <a:xfrm>
            <a:off x="457200" y="5660136"/>
            <a:ext cx="4709160" cy="420624"/>
          </a:xfrm>
          <a:prstGeom prst="roundRect">
            <a:avLst>
              <a:gd name="adj" fmla="val 13043"/>
            </a:avLst>
          </a:prstGeom>
          <a:solidFill>
            <a:srgbClr val="FBEDEB"/>
          </a:solidFill>
          <a:ln w="12700">
            <a:solidFill>
              <a:srgbClr val="E7BFB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7200" y="5660136"/>
            <a:ext cx="4709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8E2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literacy, first-time smartphone users</a:t>
            </a:r>
            <a:endParaRPr lang="en-US" sz="1130" dirty="0"/>
          </a:p>
        </p:txBody>
      </p:sp>
      <p:sp>
        <p:nvSpPr>
          <p:cNvPr id="35" name="Shape 32"/>
          <p:cNvSpPr/>
          <p:nvPr/>
        </p:nvSpPr>
        <p:spPr>
          <a:xfrm rot="5400000">
            <a:off x="5294376" y="5792724"/>
            <a:ext cx="201168" cy="155448"/>
          </a:xfrm>
          <a:prstGeom prst="triangle">
            <a:avLst/>
          </a:prstGeom>
          <a:solidFill>
            <a:srgbClr val="2E8B54"/>
          </a:solidFill>
          <a:ln/>
        </p:spPr>
      </p:sp>
      <p:sp>
        <p:nvSpPr>
          <p:cNvPr id="36" name="Shape 33"/>
          <p:cNvSpPr/>
          <p:nvPr/>
        </p:nvSpPr>
        <p:spPr>
          <a:xfrm>
            <a:off x="5623560" y="5660136"/>
            <a:ext cx="5989320" cy="420624"/>
          </a:xfrm>
          <a:prstGeom prst="roundRect">
            <a:avLst>
              <a:gd name="adj" fmla="val 13043"/>
            </a:avLst>
          </a:prstGeom>
          <a:solidFill>
            <a:srgbClr val="E9F5EC"/>
          </a:solidFill>
          <a:ln w="12700">
            <a:solidFill>
              <a:srgbClr val="BFE0C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23560" y="5660136"/>
            <a:ext cx="5989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Zero-text, voice-first, icon-driven interaction</a:t>
            </a:r>
            <a:endParaRPr lang="en-US" sz="1130" dirty="0"/>
          </a:p>
        </p:txBody>
      </p:sp>
      <p:sp>
        <p:nvSpPr>
          <p:cNvPr id="38" name="Shape 35"/>
          <p:cNvSpPr/>
          <p:nvPr/>
        </p:nvSpPr>
        <p:spPr>
          <a:xfrm>
            <a:off x="457200" y="6172200"/>
            <a:ext cx="4709160" cy="420624"/>
          </a:xfrm>
          <a:prstGeom prst="roundRect">
            <a:avLst>
              <a:gd name="adj" fmla="val 13043"/>
            </a:avLst>
          </a:prstGeom>
          <a:solidFill>
            <a:srgbClr val="FBEDEB"/>
          </a:solidFill>
          <a:ln w="12700">
            <a:solidFill>
              <a:srgbClr val="E7BFB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" y="6172200"/>
            <a:ext cx="4709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8E2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or fake certification</a:t>
            </a:r>
            <a:endParaRPr lang="en-US" sz="1130" dirty="0"/>
          </a:p>
        </p:txBody>
      </p:sp>
      <p:sp>
        <p:nvSpPr>
          <p:cNvPr id="40" name="Shape 37"/>
          <p:cNvSpPr/>
          <p:nvPr/>
        </p:nvSpPr>
        <p:spPr>
          <a:xfrm rot="5400000">
            <a:off x="5294376" y="6304788"/>
            <a:ext cx="201168" cy="155448"/>
          </a:xfrm>
          <a:prstGeom prst="triangle">
            <a:avLst/>
          </a:prstGeom>
          <a:solidFill>
            <a:srgbClr val="2E8B54"/>
          </a:solidFill>
          <a:ln/>
        </p:spPr>
      </p:sp>
      <p:sp>
        <p:nvSpPr>
          <p:cNvPr id="41" name="Shape 38"/>
          <p:cNvSpPr/>
          <p:nvPr/>
        </p:nvSpPr>
        <p:spPr>
          <a:xfrm>
            <a:off x="5623560" y="6172200"/>
            <a:ext cx="5989320" cy="420624"/>
          </a:xfrm>
          <a:prstGeom prst="roundRect">
            <a:avLst>
              <a:gd name="adj" fmla="val 13043"/>
            </a:avLst>
          </a:prstGeom>
          <a:solidFill>
            <a:srgbClr val="E9F5EC"/>
          </a:solidFill>
          <a:ln w="12700">
            <a:solidFill>
              <a:srgbClr val="BFE0C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23560" y="6172200"/>
            <a:ext cx="598932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variants, signed credential, on-device liveness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60120" cy="420624"/>
          </a:xfrm>
          <a:prstGeom prst="ellipse">
            <a:avLst/>
          </a:prstGeom>
          <a:ln w="15875">
            <a:solidFill>
              <a:srgbClr val="0E2A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3000" dirty="0"/>
          </a:p>
        </p:txBody>
      </p:sp>
      <p:pic>
        <p:nvPicPr>
          <p:cNvPr id="5" name="Image 0" descr="/home/claude/work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19456"/>
            <a:ext cx="1298448" cy="6127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144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7-day retention as our headline number, not training hours delivered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" y="1467612"/>
            <a:ext cx="137160" cy="137160"/>
          </a:xfrm>
          <a:prstGeom prst="ellipse">
            <a:avLst/>
          </a:prstGeom>
          <a:solidFill>
            <a:srgbClr val="155F7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76656" y="1389888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WE LIVE OR DIE BY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828800"/>
          <a:ext cx="58064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5029200"/>
            <a:ext cx="5806440" cy="786384"/>
          </a:xfrm>
          <a:prstGeom prst="roundRect">
            <a:avLst>
              <a:gd name="adj" fmla="val 6977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" y="5029200"/>
            <a:ext cx="5477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recall falls below 20% by Day 7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problem statement's cited figure.  The AR curve is our </a:t>
            </a:r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to be validated in a controlled pilot</a:t>
            </a:r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(D+1, D+7, D+30).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537960" y="1463040"/>
            <a:ext cx="5193792" cy="932688"/>
          </a:xfrm>
          <a:prstGeom prst="roundRect">
            <a:avLst>
              <a:gd name="adj" fmla="val 4902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16268" y="1677924"/>
            <a:ext cx="155448" cy="1554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976872" y="160020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HELPS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1883664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recruits in their first 30 days, the highest-risk cohort. For many, their first portable digital credential.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537960" y="2542032"/>
            <a:ext cx="5193792" cy="932688"/>
          </a:xfrm>
          <a:prstGeom prst="roundRect">
            <a:avLst>
              <a:gd name="adj" fmla="val 4902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16268" y="2756916"/>
            <a:ext cx="155448" cy="155448"/>
          </a:xfrm>
          <a:prstGeom prst="ellipse">
            <a:avLst/>
          </a:prstGeom>
          <a:solidFill>
            <a:srgbClr val="1C7A9E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76872" y="2679192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812280" y="2962656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certification in the worker's mother tongue, with a path that needs zero reading.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6537960" y="3621024"/>
            <a:ext cx="5193792" cy="932688"/>
          </a:xfrm>
          <a:prstGeom prst="roundRect">
            <a:avLst>
              <a:gd name="adj" fmla="val 4902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16268" y="3835908"/>
            <a:ext cx="155448" cy="155448"/>
          </a:xfrm>
          <a:prstGeom prst="ellipse">
            <a:avLst/>
          </a:prstGeom>
          <a:solidFill>
            <a:srgbClr val="2E8B54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6976872" y="375818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2E8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812280" y="4041648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lost-time incidents, lower audit overhead, less training-centre downtime.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6537960" y="4700016"/>
            <a:ext cx="5193792" cy="932688"/>
          </a:xfrm>
          <a:prstGeom prst="roundRect">
            <a:avLst>
              <a:gd name="adj" fmla="val 4902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16268" y="4914900"/>
            <a:ext cx="155448" cy="155448"/>
          </a:xfrm>
          <a:prstGeom prst="ellipse">
            <a:avLst/>
          </a:prstGeom>
          <a:solidFill>
            <a:srgbClr val="155F7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976872" y="483717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55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6812280" y="512064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fires, spills and uncontrolled releases from better-drilled emergency response.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0E2A4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605332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beyond mining:  </a:t>
            </a:r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engine covers steel, mica, construction, ports and railways. Only the scenario graphs change.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960120" cy="420624"/>
          </a:xfrm>
          <a:prstGeom prst="ellipse">
            <a:avLst/>
          </a:prstGeom>
          <a:ln w="15875">
            <a:solidFill>
              <a:srgbClr val="0E2A4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74320"/>
            <a:ext cx="9235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3000" dirty="0"/>
          </a:p>
        </p:txBody>
      </p:sp>
      <p:pic>
        <p:nvPicPr>
          <p:cNvPr id="5" name="Image 0" descr="/home/claude/work/assets/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19456"/>
            <a:ext cx="1298448" cy="6127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1440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mine-safety law, learning science, and open web-AR standards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2688336" cy="4343400"/>
          </a:xfrm>
          <a:prstGeom prst="roundRect">
            <a:avLst>
              <a:gd name="adj" fmla="val 1361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912" y="1664208"/>
            <a:ext cx="438912" cy="438912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81912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&amp; MANDATE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834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Act 1952 and Mines Rules 1955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Vocational Training Rules 1966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Mines Regs 2017 / Metalliferous Mines Regs 1961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DGMS circulars and Annual Statistics of Mines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Personal Data Protection Act 2023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3319272" y="1463040"/>
            <a:ext cx="2688336" cy="4343400"/>
          </a:xfrm>
          <a:prstGeom prst="roundRect">
            <a:avLst>
              <a:gd name="adj" fmla="val 1361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43984" y="1664208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43984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EVIDENCE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502152" y="2834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DGMS Annual Statistics of Mines: fatal-accident causes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Confined-space asphyxiation and the second-victim trap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fatal mine accidents in Jharkhand, 2022-23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Under-30-day recruits over-represented in fatalities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hazard-recognition transfer studies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6181344" y="1463040"/>
            <a:ext cx="2688336" cy="4343400"/>
          </a:xfrm>
          <a:prstGeom prst="roundRect">
            <a:avLst>
              <a:gd name="adj" fmla="val 1361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06056" y="1664208"/>
            <a:ext cx="438912" cy="438912"/>
          </a:xfrm>
          <a:prstGeom prst="ellipse">
            <a:avLst/>
          </a:prstGeom>
          <a:solidFill>
            <a:srgbClr val="1C7A9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06056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291072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" kern="0" dirty="0">
                <a:solidFill>
                  <a:srgbClr val="1C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SCIENCE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364224" y="2834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Ebbinghaus forgetting curve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Spaced-repetition scheduling research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Kirkpatrick four-level training evaluation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Under-20% classroom retention at 7 days</a:t>
            </a:r>
            <a:endParaRPr lang="en-US" sz="1030" dirty="0"/>
          </a:p>
        </p:txBody>
      </p:sp>
      <p:sp>
        <p:nvSpPr>
          <p:cNvPr id="22" name="Shape 19"/>
          <p:cNvSpPr/>
          <p:nvPr/>
        </p:nvSpPr>
        <p:spPr>
          <a:xfrm>
            <a:off x="9043416" y="1463040"/>
            <a:ext cx="2688336" cy="4343400"/>
          </a:xfrm>
          <a:prstGeom prst="roundRect">
            <a:avLst>
              <a:gd name="adj" fmla="val 1361"/>
            </a:avLst>
          </a:prstGeom>
          <a:solidFill>
            <a:srgbClr val="EEF2F7"/>
          </a:solidFill>
          <a:ln w="12700">
            <a:solidFill>
              <a:srgbClr val="CDD8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168128" y="1664208"/>
            <a:ext cx="438912" cy="438912"/>
          </a:xfrm>
          <a:prstGeom prst="ellipse">
            <a:avLst/>
          </a:prstGeom>
          <a:solidFill>
            <a:srgbClr val="23724A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168128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153144" y="22128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" kern="0" dirty="0">
                <a:solidFill>
                  <a:srgbClr val="237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STANDARDS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9226296" y="28346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WebXR Device API and Google ARCore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real-time rendering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Verifiable Credentials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DigiLocker credential stack</a:t>
            </a:r>
            <a:endParaRPr lang="en-US" sz="1030" dirty="0"/>
          </a:p>
          <a:p>
            <a:pPr algn="l" marL="177800" indent="-1778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 signing via WebCrypto</a:t>
            </a:r>
            <a:endParaRPr lang="en-US" sz="103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are cited from the problem statement and DGMS Annual Statistics of Mines; every primary source links to its official government portal.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2026-09-02T09:36:26Z</dcterms:created>
  <dcterms:modified xsi:type="dcterms:W3CDTF">2026-09-02T09:36:26Z</dcterms:modified>
</cp:coreProperties>
</file>